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Yugraj. One sentence: we keep one AI conversation consistent while it moves between agents, fails, and comes back. Introduce both members and their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Yugraj. Walk the chain left to right. The failure happens at the hand-off: the tool agent times out, a retry arrives twice, or two agents answer the same step. Nothing in the adapters themselves keeps the conversation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Yugraj. Three facts from distributed systems explain the design. Then the key insight: the adapters must not own the conversation; an append-only event log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Neha. Only the most relevant sources. Point out that the Idempotency-Key header draft keys a request, whereas we key the dialog slot so a retry from another adapter still collapses.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Neha. Left: the canonical envelope every adapter is decoded into. Right: the four steps. Stress that duplicates and conflicts are kept in the log as evidence; recovery decides, and explains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Neha, then Yugraj for persistence and error handling. Each row is a real defect we measured in our own first prototype, recorded in docs/IMPLEMENTATION_NOTES.md.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Neha. The missing-message row is the important one: Threadline refuses to invent seq 5, so the dialog correctly stays incomplete. Every recovery returns the same hash when re-run on the same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Neha. Same random logs, three ways of recovering them. Deduplicating by message_id stops redeliveries but not retries, so all 589 retries became duplicate replies. A naive consumer has no notion of a gap, so it hid every lost message. Threadline was exact in every trial. Limits: conflicts and timeouts are not randomised; see docs/EVALUATION.md. Reproduce: python -m threadline.campaign, or panel 4 on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Yugraj for gateway, store and API; Neha for adapters and the recovery engine. The same request handler runs locally and on Vercel.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Neha. Top lane: what happens to every message as it arrives. Bottom lane: the operator's recovery, read-only over the log, so it is safe to run any number of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Yugraj. M1 to M5 are done and in the repository; M6 is the submission. Method: every guarantee has a named test, and fault positions are fixed so evaluators see exactly what the docs describe.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Yugraj closes.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aiori-hackathon/A3-PS021-TC516" TargetMode="External"/><Relationship Id="rId4" Type="http://schemas.openxmlformats.org/officeDocument/2006/relationships/hyperlink" Target="https://threadline-brown.vercel.app" TargetMode="External"/><Relationship Id="rId5" Type="http://schemas.openxmlformats.org/officeDocument/2006/relationships/hyperlink" Target="https://youtu.be/4IXSzTUrEOA" TargetMode="Externa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Calibri"/>
              </a:rPr>
              <a:t>AIORI Hackathon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Calibri"/>
              </a:rPr>
              <a:t>October 14, 2026</a:t>
            </a:r>
          </a:p>
        </p:txBody>
      </p:sp>
      <p:pic>
        <p:nvPicPr>
          <p:cNvPr id="4" name="Picture 3" descr="aiori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325880" cy="128930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48640" y="297180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000DC"/>
                </a:solidFill>
                <a:latin typeface="Calibri"/>
              </a:rPr>
              <a:t>A3-PS021-TC516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8404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36E"/>
                </a:solidFill>
                <a:latin typeface="Calibri"/>
              </a:rPr>
              <a:t>Threadline: </a:t>
            </a:r>
            <a:r>
              <a:rPr sz="2400" b="0" i="0">
                <a:solidFill>
                  <a:srgbClr val="111111"/>
                </a:solidFill>
                <a:latin typeface="Calibri"/>
              </a:rPr>
              <a:t>Experimental Dialog Correlation and Recovery Across Agent Adapters (PS-021)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Yugraj Mangate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yugrajmangate@gmail.com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55B6E"/>
                </a:solidFill>
                <a:latin typeface="Calibri"/>
              </a:rPr>
              <a:t>github.com/yugrajmangate-dev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55B6E"/>
                </a:solidFill>
                <a:latin typeface="Calibri"/>
              </a:rPr>
              <a:t>Backend, API, SQLite persistence,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892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Neha Niphade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nehapniphade@proton.me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55B6E"/>
                </a:solidFill>
                <a:latin typeface="Calibri"/>
              </a:rPr>
              <a:t>github.com/Neha-Niphade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55B6E"/>
                </a:solidFill>
                <a:latin typeface="Calibri"/>
              </a:rPr>
              <a:t>Adapters, correlation, recovery, tests,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6E"/>
                </a:solidFill>
                <a:latin typeface="Calibri"/>
              </a:rPr>
              <a:t>Team Nexora  ·  </a:t>
            </a:r>
            <a:r>
              <a:rPr sz="1300" b="0" i="0">
                <a:solidFill>
                  <a:srgbClr val="555B6E"/>
                </a:solidFill>
                <a:latin typeface="Calibri"/>
              </a:rPr>
              <a:t>Code: github.com/aiori-hackathon/A3-PS021-TC516  ·  Live demo: threadline-brown.vercel.app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Abstract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Problem Description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One AI conversation crosses agents that speak different protocols, and breaks when delivery fails.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web-chat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user · WebSocket 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2542032"/>
            <a:ext cx="2377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20574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205740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planner-agent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LLM · HTTP + headers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07408" y="2542032"/>
            <a:ext cx="237744" cy="0"/>
          </a:xfrm>
          <a:prstGeom prst="line">
            <a:avLst/>
          </a:prstGeom>
          <a:ln w="22225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0574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05740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tool-agent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tools · JSON-RPC 2.0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0" y="22860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62828"/>
                </a:solidFill>
                <a:latin typeface="Calibri"/>
              </a:rPr>
              <a:t>Hand-off to the tool agent times out. What now?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6035040" cy="2423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5669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36E"/>
                </a:solidFill>
                <a:latin typeface="Calibri"/>
              </a:rPr>
              <a:t>What goes wrong without correlation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Calibri"/>
              </a:rPr>
              <a:t>Context is lost: the resumed agent does not know what was already said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Calibri"/>
              </a:rPr>
              <a:t>A retried step produces a second assistant reply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Calibri"/>
              </a:rPr>
              <a:t>Two agents answer the same step (split-brain)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Calibri"/>
              </a:rPr>
              <a:t>Gaps are silently skipped; nobody can explain 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01168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36E"/>
                </a:solidFill>
                <a:latin typeface="Calibri"/>
              </a:rPr>
              <a:t>Failure modes PS-021 asks us to handle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46888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468880"/>
            <a:ext cx="21396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6E"/>
                </a:solidFill>
                <a:latin typeface="Calibri"/>
              </a:rPr>
              <a:t>Adapter timeout</a:t>
            </a:r>
          </a:p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interrupted hand-off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46888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468880"/>
            <a:ext cx="21396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6E"/>
                </a:solidFill>
                <a:latin typeface="Calibri"/>
              </a:rPr>
              <a:t>Duplicates</a:t>
            </a:r>
          </a:p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redelivery &amp; retries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370332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3703320"/>
            <a:ext cx="21396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6E"/>
                </a:solidFill>
                <a:latin typeface="Calibri"/>
              </a:rPr>
              <a:t>Out of order</a:t>
            </a:r>
          </a:p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seq 3 before seq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370332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3703320"/>
            <a:ext cx="21396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6E"/>
                </a:solidFill>
                <a:latin typeface="Calibri"/>
              </a:rPr>
              <a:t>Delayed</a:t>
            </a:r>
          </a:p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arrives after recovery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493776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4937760"/>
            <a:ext cx="21396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6E"/>
                </a:solidFill>
                <a:latin typeface="Calibri"/>
              </a:rPr>
              <a:t>Lost</a:t>
            </a:r>
          </a:p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a sequence never arrives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72600" y="493776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4937760"/>
            <a:ext cx="21396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6E"/>
                </a:solidFill>
                <a:latin typeface="Calibri"/>
              </a:rPr>
              <a:t>Split-brain</a:t>
            </a:r>
          </a:p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two claims, one slot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Background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Background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Multi-agent systems are distributed systems: no shared clock, at-least-once delivery, retries everywhere.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22199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236E"/>
                </a:solidFill>
                <a:latin typeface="Calibri"/>
              </a:rPr>
              <a:t>Heterogeneous adapters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Chat widgets (WebSocket), LLM agents (HTTP) and tool servers (JSON-RPC 2.0, as in MCP) each carry correlation in a different place [5][6][10].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01168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79" y="2194560"/>
            <a:ext cx="502920" cy="502920"/>
          </a:xfrm>
          <a:prstGeom prst="ellipse">
            <a:avLst/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222199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236E"/>
                </a:solidFill>
                <a:latin typeface="Calibri"/>
              </a:rPr>
              <a:t>At-least-once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88036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Retries and redelivery make duplicates normal. Exactly-once processing has to be built from idempotency keys and sequence numbers [1][2][9].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01168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19" y="2194560"/>
            <a:ext cx="502920" cy="502920"/>
          </a:xfrm>
          <a:prstGeom prst="ellipse">
            <a:avLst/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222199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236E"/>
                </a:solidFill>
                <a:latin typeface="Calibri"/>
              </a:rPr>
              <a:t>No trustworthy global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88036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Wall clocks differ between services and retries re-stamp messages, so order must come from sequence and causation, not timestamps [3].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1A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105156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87F13"/>
                </a:solidFill>
                <a:latin typeface="Calibri"/>
              </a:rPr>
              <a:t>Key insight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The adapters must not own the conversation. An append-only event log does, and recovery is a deterministic replay of that log [7][8].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Literature &amp; RFC Review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Literature &amp; RFC Review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The standards and studies we build on, and what we take from each.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4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3240"/>
                <a:gridCol w="3611880"/>
                <a:gridCol w="43891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establishes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Threadline applies 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RFC 9110 HTTP Semantics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Idempotent methods may be retried safely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Every dialog step is safe to retry: a repeat is detected, not reprocessed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Idempotency-Key header (IETF draft)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Client key deduplicates retried POSTs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Key derived from the dialog slot (conversation, seq, role, cause, kind), verified on replay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Lamport, logical clocks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Order by happened-before, not wall clocks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Order by sequence + causation_id; timestamps never decide order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W3C Trace Context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Correlation ids propagated across services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Five correlation fields survive all three wire protocols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Event Sourcing [7] · Sagas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State = replay of events; multi-step recovery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Append-only SQLite log; pure replay(); resume from a safe checkpoint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Kafka KIP-98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Producer sequence numbers enable broker dedup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Sequence slots + idempotency key drop redeliveries and retries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Proposed Solution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Correlate every message, log every delivery, recover by deterministic replay.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4663440" cy="4160520"/>
          </a:xfrm>
          <a:prstGeom prst="roundRect">
            <a:avLst>
              <a:gd name="adj" fmla="val 8000"/>
            </a:avLst>
          </a:prstGeom>
          <a:solidFill>
            <a:srgbClr val="1A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F13"/>
                </a:solidFill>
                <a:latin typeface="Calibri"/>
              </a:rPr>
              <a:t>Canonical envelope (every adapter)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06040"/>
            <a:ext cx="4114800" cy="530352"/>
          </a:xfrm>
          <a:prstGeom prst="roundRect">
            <a:avLst>
              <a:gd name="adj" fmla="val 15000"/>
            </a:avLst>
          </a:prstGeom>
          <a:solidFill>
            <a:srgbClr val="2A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conversation_id</a:t>
            </a:r>
            <a:r>
              <a:rPr sz="1300" b="0" i="0">
                <a:solidFill>
                  <a:srgbClr val="C9D2FF"/>
                </a:solidFill>
                <a:latin typeface="Calibri"/>
              </a:rPr>
              <a:t>   stable dialog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4114800" cy="530352"/>
          </a:xfrm>
          <a:prstGeom prst="roundRect">
            <a:avLst>
              <a:gd name="adj" fmla="val 15000"/>
            </a:avLst>
          </a:prstGeom>
          <a:solidFill>
            <a:srgbClr val="2A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message_id</a:t>
            </a:r>
            <a:r>
              <a:rPr sz="1300" b="0" i="0">
                <a:solidFill>
                  <a:srgbClr val="C9D2FF"/>
                </a:solidFill>
                <a:latin typeface="Calibri"/>
              </a:rPr>
              <a:t>   unique per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4114800" cy="530352"/>
          </a:xfrm>
          <a:prstGeom prst="roundRect">
            <a:avLst>
              <a:gd name="adj" fmla="val 15000"/>
            </a:avLst>
          </a:prstGeom>
          <a:solidFill>
            <a:srgbClr val="2A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sequence</a:t>
            </a:r>
            <a:r>
              <a:rPr sz="1300" b="0" i="0">
                <a:solidFill>
                  <a:srgbClr val="C9D2FF"/>
                </a:solidFill>
                <a:latin typeface="Calibri"/>
              </a:rPr>
              <a:t>   position in the dialog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26279"/>
            <a:ext cx="4114800" cy="530352"/>
          </a:xfrm>
          <a:prstGeom prst="roundRect">
            <a:avLst>
              <a:gd name="adj" fmla="val 15000"/>
            </a:avLst>
          </a:prstGeom>
          <a:solidFill>
            <a:srgbClr val="2A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26279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causation_id</a:t>
            </a:r>
            <a:r>
              <a:rPr sz="1300" b="0" i="0">
                <a:solidFill>
                  <a:srgbClr val="C9D2FF"/>
                </a:solidFill>
                <a:latin typeface="Calibri"/>
              </a:rPr>
              <a:t>   message it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66360"/>
            <a:ext cx="4114800" cy="530352"/>
          </a:xfrm>
          <a:prstGeom prst="roundRect">
            <a:avLst>
              <a:gd name="adj" fmla="val 15000"/>
            </a:avLst>
          </a:prstGeom>
          <a:solidFill>
            <a:srgbClr val="2A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66360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idempotency_key</a:t>
            </a:r>
            <a:r>
              <a:rPr sz="1300" b="0" i="0">
                <a:solidFill>
                  <a:srgbClr val="C9D2FF"/>
                </a:solidFill>
                <a:latin typeface="Calibri"/>
              </a:rPr>
              <a:t>   hash(conv, seq, role, cause, kind)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D2FF"/>
                </a:solidFill>
                <a:latin typeface="Calibri"/>
              </a:rPr>
              <a:t>No timestamps, no adapter names in identity</a:t>
            </a:r>
          </a:p>
        </p:txBody>
      </p:sp>
      <p:sp>
        <p:nvSpPr>
          <p:cNvPr id="20" name="Oval 19"/>
          <p:cNvSpPr/>
          <p:nvPr/>
        </p:nvSpPr>
        <p:spPr>
          <a:xfrm>
            <a:off x="5577840" y="2121408"/>
            <a:ext cx="566928" cy="56692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1167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36E"/>
                </a:solidFill>
                <a:latin typeface="Calibri"/>
              </a:rPr>
              <a:t>Correlate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59152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Calibri"/>
              </a:rPr>
              <a:t>Three protocols (WebSocket JSON, HTTP headers, JSON-RPC 2.0) decode into one envelope.</a:t>
            </a:r>
          </a:p>
        </p:txBody>
      </p:sp>
      <p:sp>
        <p:nvSpPr>
          <p:cNvPr id="23" name="Oval 22"/>
          <p:cNvSpPr/>
          <p:nvPr/>
        </p:nvSpPr>
        <p:spPr>
          <a:xfrm>
            <a:off x="5577840" y="3191256"/>
            <a:ext cx="566928" cy="566928"/>
          </a:xfrm>
          <a:prstGeom prst="ellipse">
            <a:avLst/>
          </a:prstGeom>
          <a:solidFill>
            <a:srgbClr val="1A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36E"/>
                </a:solidFill>
                <a:latin typeface="Calibri"/>
              </a:rPr>
              <a:t>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2900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Calibri"/>
              </a:rPr>
              <a:t>Gateway appends every delivery to SQLite; triggers block UPDATE/DELETE on the event log.</a:t>
            </a:r>
          </a:p>
        </p:txBody>
      </p:sp>
      <p:sp>
        <p:nvSpPr>
          <p:cNvPr id="26" name="Oval 25"/>
          <p:cNvSpPr/>
          <p:nvPr/>
        </p:nvSpPr>
        <p:spPr>
          <a:xfrm>
            <a:off x="5577840" y="4261104"/>
            <a:ext cx="566928" cy="566928"/>
          </a:xfrm>
          <a:prstGeom prst="ellipse">
            <a:avLst/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15137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36E"/>
                </a:solidFill>
                <a:latin typeface="Calibri"/>
              </a:rPr>
              <a:t>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498848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Calibri"/>
              </a:rPr>
              <a:t>Pure replay(): validate, dedupe, resolve conflicts, order, verify gaps. Verdict + rule + reason per event.</a:t>
            </a:r>
          </a:p>
        </p:txBody>
      </p:sp>
      <p:sp>
        <p:nvSpPr>
          <p:cNvPr id="29" name="Oval 28"/>
          <p:cNvSpPr/>
          <p:nvPr/>
        </p:nvSpPr>
        <p:spPr>
          <a:xfrm>
            <a:off x="5577840" y="5330952"/>
            <a:ext cx="566928" cy="566928"/>
          </a:xfrm>
          <a:prstGeom prst="ellipse">
            <a:avLst/>
          </a:prstGeom>
          <a:solidFill>
            <a:srgbClr val="E87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221224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36E"/>
                </a:solidFill>
                <a:latin typeface="Calibri"/>
              </a:rPr>
              <a:t>Resume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568696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Calibri"/>
              </a:rPr>
              <a:t>Continue an open hand-off from the recovered checkpoint. A gap blocks resume: never invent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Solution Optimization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Optimization Proposed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From the first prototype to Threadline: what changed and why.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6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64240" cy="4242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4206240"/>
                <a:gridCol w="466344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Before (first prototype)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After (Threadline)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36E"/>
                          </a:solidFill>
                          <a:latin typeface="Calibri"/>
                        </a:rPr>
                        <a:t>Idempotency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conversation:sequence:adapter, so the same step via another adapter got a new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  <a:latin typeface="Calibri"/>
                        </a:rPr>
                        <a:t>hash(conversation, seq, role, cause, kind): retries across adapters collapse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36E"/>
                          </a:solidFill>
                          <a:latin typeface="Calibri"/>
                        </a:rPr>
                        <a:t>Interrupted hand-off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Reported 'recovered'; the open hand-off was silently ignored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  <a:latin typeface="Calibri"/>
                        </a:rPr>
                        <a:t>Detected, linked to the timeout signal, resumable by the target adapter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36E"/>
                          </a:solidFill>
                          <a:latin typeface="Calibri"/>
                        </a:rPr>
                        <a:t>Missing messages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Never surfaced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  <a:latin typeface="Calibri"/>
                        </a:rPr>
                        <a:t>Gaps listed, status incomplete, resume blocked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36E"/>
                          </a:solidFill>
                          <a:latin typeface="Calibri"/>
                        </a:rPr>
                        <a:t>Ordering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Ties broken by timestamps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  <a:latin typeface="Calibri"/>
                        </a:rPr>
                        <a:t>Sequence order; log offset breaks ties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36E"/>
                          </a:solidFill>
                          <a:latin typeface="Calibri"/>
                        </a:rPr>
                        <a:t>Causation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Pointed at the delivery event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  <a:latin typeface="Calibri"/>
                        </a:rPr>
                        <a:t>Points at the message it answers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36E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In-memory dict, lost on restart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  <a:latin typeface="Calibri"/>
                        </a:rPr>
                        <a:t>Append-only SQLite log with triggers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36E"/>
                          </a:solidFill>
                          <a:latin typeface="Calibri"/>
                        </a:rPr>
                        <a:t>Fault coverage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No duplicates, reordering or gaps produced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8E3E"/>
                          </a:solidFill>
                          <a:latin typeface="Calibri"/>
                        </a:rPr>
                        <a:t>6 composable faults, 8 deterministic scenarios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Solution Optimization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Optimization Proposed II: Measured Results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python -m threadline.bench: every scenario through run → recover → deliver → resume → recover twice.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7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8732520" cy="3867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/>
                <a:gridCol w="1417320"/>
                <a:gridCol w="1783080"/>
                <a:gridCol w="1783080"/>
                <a:gridCol w="1280160"/>
                <a:gridCol w="8229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Faults injected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First recovery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Final 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Dialog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Same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Happy path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consistent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consistent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Interrupted hand-off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timeout at seq 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recovered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recovered (+2 resumed)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Duplicate storm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redelivery + retry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recovered (2 removed)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recovered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Out of order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3↔2, 9↔8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recovered (2 reordered)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recovered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Delayed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seq 6 in transit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62828"/>
                          </a:solidFill>
                          <a:latin typeface="Calibri"/>
                        </a:rPr>
                        <a:t>incomplete (gap 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recovered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seq 5 lost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62828"/>
                          </a:solidFill>
                          <a:latin typeface="Calibri"/>
                        </a:rPr>
                        <a:t>incomplete (gap 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62828"/>
                          </a:solidFill>
                          <a:latin typeface="Calibri"/>
                        </a:rPr>
                        <a:t>incomplete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ended_with_gaps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Split-brain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two claims on seq 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46A00"/>
                          </a:solidFill>
                          <a:latin typeface="Calibri"/>
                        </a:rPr>
                        <a:t>recovered_with_conflicts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46A00"/>
                          </a:solidFill>
                          <a:latin typeface="Calibri"/>
                        </a:rPr>
                        <a:t>recovered_with_conflicts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36E"/>
                          </a:solidFill>
                          <a:latin typeface="Calibri"/>
                        </a:rPr>
                        <a:t>Chaos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5 faults combined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62828"/>
                          </a:solidFill>
                          <a:latin typeface="Calibri"/>
                        </a:rPr>
                        <a:t>incomplete (gap 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46A00"/>
                          </a:solidFill>
                          <a:latin typeface="Calibri"/>
                        </a:rPr>
                        <a:t>recovered_with_conflicts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509760" y="1874519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1920239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8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4231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scenarios idempotent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916935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962655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465575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messages invented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3959352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4005072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450799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automated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5001768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504748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&lt; 1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555040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replay per dialog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Solution Optimization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Optimization Proposed III: Random Fault Campaign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1000 seeded trials with random redeliveries, retries, delays, clock skew and loss: before vs. after.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8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64240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0"/>
                <a:gridCol w="1691640"/>
                <a:gridCol w="1783080"/>
                <a:gridCol w="1691640"/>
                <a:gridCol w="16916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Recovery strategy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Exact context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Duplicate replies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Order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Loss surfaced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1A23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Before: arrival order, dedupe by message_id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589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1629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Before: timestamp order, dedupe by message_id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17.6%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589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1733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36E"/>
                          </a:solidFill>
                          <a:latin typeface="Calibri"/>
                        </a:rPr>
                        <a:t>After: Threadline replay()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CEE6"/>
                      </a:solidFill>
                    </a:lnL>
                    <a:lnR w="9525">
                      <a:solidFill>
                        <a:srgbClr val="C9CEE6"/>
                      </a:solidFill>
                    </a:lnR>
                    <a:lnT w="9525">
                      <a:solidFill>
                        <a:srgbClr val="C9CEE6"/>
                      </a:solidFill>
                    </a:lnT>
                    <a:lnB w="9525">
                      <a:solidFill>
                        <a:srgbClr val="C9CE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random trials, seed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4160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5626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47091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faults injected + 522 lost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4160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1000 / 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5" y="47091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replays deterministic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3" y="4160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000DC"/>
                </a:solidFill>
                <a:latin typeface="Calibri"/>
              </a:rPr>
              <a:t>0.08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3" y="47091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B6E"/>
                </a:solidFill>
                <a:latin typeface="Calibri"/>
              </a:rPr>
              <a:t>median replay per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6E"/>
                </a:solidFill>
                <a:latin typeface="Calibri"/>
              </a:rPr>
              <a:t>Stress run 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(50% retries, 90% delayed, 20% loss): Threadline still exact in 1000/1000; both naive strategies 0/1000. Not randomised: split-brain conflicts and timeouts (covered by the fixed scenarios).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Architecture Design (UML Diagram)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Solution Architecture &amp; Design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Components and dependencies (standard-library Python, zero third-party packages)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65960"/>
            <a:ext cx="223113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Fault simulator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simulator.py · 6 faults, 8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55B6E"/>
                </a:solidFill>
                <a:latin typeface="Calibri"/>
              </a:rPr>
              <a:t>«adapters.py» encode / decode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5856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6E"/>
                </a:solidFill>
                <a:latin typeface="Calibri"/>
              </a:rPr>
              <a:t>WebChatAdapter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585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websocket-json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6E"/>
                </a:solidFill>
                <a:latin typeface="Calibri"/>
              </a:rPr>
              <a:t>PlannerAdapter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60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http-agent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620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6E"/>
                </a:solidFill>
                <a:latin typeface="Calibri"/>
              </a:rPr>
              <a:t>ToolAdapter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62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json-rpc-2.0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44368" y="2446020"/>
            <a:ext cx="4663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352044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520440"/>
            <a:ext cx="223113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Envelope rules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events.py · validate(), idempotency 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52044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1A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3520440"/>
            <a:ext cx="34655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Gateway</a:t>
            </a:r>
          </a:p>
          <a:p>
            <a:pPr algn="ctr"/>
            <a:r>
              <a:rPr sz="1100" b="0" i="0">
                <a:solidFill>
                  <a:srgbClr val="C9D2FF"/>
                </a:solidFill>
                <a:latin typeface="Calibri"/>
              </a:rPr>
              <a:t>service.py · normalise, validate, classify, append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30368" y="3218688"/>
            <a:ext cx="0" cy="283464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944368" y="4000500"/>
            <a:ext cx="4663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20" y="352044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3520440"/>
            <a:ext cx="25511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Event store (SQLite)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store.py · events (append-only), in_flight, recoveries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4000500"/>
            <a:ext cx="512063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59168" y="3630168"/>
            <a:ext cx="512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B6E"/>
                </a:solidFill>
                <a:latin typeface="Calibri"/>
              </a:rPr>
              <a:t>append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892040"/>
            <a:ext cx="223113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Operator dashboard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static/ · vanilla JS, no build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89204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2152" y="4892040"/>
            <a:ext cx="34655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JSON API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server.py · 11 routes, JSON errors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89204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4892040"/>
            <a:ext cx="25511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Recovery engine</a:t>
            </a:r>
          </a:p>
          <a:p>
            <a:pPr algn="ctr"/>
            <a:r>
              <a:rPr sz="1100" b="0" i="0">
                <a:solidFill>
                  <a:srgbClr val="C9D2FF"/>
                </a:solidFill>
                <a:latin typeface="Calibri"/>
              </a:rPr>
              <a:t>recovery.py · pure replay(), context_hash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42832" y="4498848"/>
            <a:ext cx="0" cy="374904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06840" y="4526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read log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059168" y="5372100"/>
            <a:ext cx="512063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944368" y="5372100"/>
            <a:ext cx="4663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30368" y="4498848"/>
            <a:ext cx="0" cy="374904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3520" y="45262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operator 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61320" y="1920240"/>
            <a:ext cx="1051560" cy="39319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25328" y="1965960"/>
            <a:ext cx="941832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236E"/>
                </a:solidFill>
                <a:latin typeface="Calibri"/>
              </a:rPr>
              <a:t>Runs on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11111"/>
                </a:solidFill>
                <a:latin typeface="Calibri"/>
              </a:rPr>
              <a:t>Local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11111"/>
                </a:solidFill>
                <a:latin typeface="Calibri"/>
              </a:rPr>
              <a:t>python server.py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11111"/>
                </a:solidFill>
                <a:latin typeface="Calibri"/>
              </a:rPr>
              <a:t>Hosted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11111"/>
                </a:solidFill>
                <a:latin typeface="Calibri"/>
              </a:rPr>
              <a:t>Vercel function + CDN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11111"/>
                </a:solidFill>
                <a:latin typeface="Calibri"/>
              </a:rPr>
              <a:t>Verified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11111"/>
                </a:solidFill>
                <a:latin typeface="Calibri"/>
              </a:rPr>
              <a:t>56 tests, bench</a:t>
            </a:r>
          </a:p>
        </p:txBody>
      </p:sp>
      <p:sp>
        <p:nvSpPr>
          <p:cNvPr id="42" name="Caption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DC"/>
                </a:solidFill>
                <a:latin typeface="Calibri"/>
              </a:rPr>
              <a:t>Figure: 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System Architecture UML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Data Flow Diagram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Data Flow Diagram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The ingest path writes evidence; the recovery path only reads it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7F13"/>
                </a:solidFill>
                <a:latin typeface="Calibri"/>
              </a:rPr>
              <a:t>INGEST (every delivery)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03120"/>
            <a:ext cx="18196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Native payload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WS frame / HTTP / JSON-RPC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8" y="2532888"/>
            <a:ext cx="2377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21031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103120"/>
            <a:ext cx="18196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Decode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adapter codec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73168" y="2532888"/>
            <a:ext cx="2377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0" y="21031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2103120"/>
            <a:ext cx="18196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Normalise + validate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derive &amp; check key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13448" y="2532888"/>
            <a:ext cx="2377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9480" y="21031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2103120"/>
            <a:ext cx="18196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Classify live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accepted / duplicate / conflict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53728" y="2532888"/>
            <a:ext cx="237744" cy="0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09760" y="21031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1A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2103120"/>
            <a:ext cx="18196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Append</a:t>
            </a:r>
          </a:p>
          <a:p>
            <a:pPr algn="ctr"/>
            <a:r>
              <a:rPr sz="1100" b="0" i="0">
                <a:solidFill>
                  <a:srgbClr val="C9D2FF"/>
                </a:solidFill>
                <a:latin typeface="Calibri"/>
              </a:rPr>
              <a:t>never filtered</a:t>
            </a:r>
          </a:p>
        </p:txBody>
      </p:sp>
      <p:sp>
        <p:nvSpPr>
          <p:cNvPr id="22" name="Can 21"/>
          <p:cNvSpPr/>
          <p:nvPr/>
        </p:nvSpPr>
        <p:spPr>
          <a:xfrm>
            <a:off x="9509760" y="3200400"/>
            <a:ext cx="1645920" cy="777240"/>
          </a:xfrm>
          <a:prstGeom prst="can">
            <a:avLst/>
          </a:prstGeom>
          <a:solidFill>
            <a:srgbClr val="1A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3364992"/>
            <a:ext cx="1645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Append-only log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32720" y="2990088"/>
            <a:ext cx="0" cy="192024"/>
          </a:xfrm>
          <a:prstGeom prst="line">
            <a:avLst/>
          </a:prstGeom>
          <a:ln w="22225">
            <a:solidFill>
              <a:srgbClr val="1A2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RECOVERY (operator: Replay &amp; recover)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332720" y="3977639"/>
            <a:ext cx="0" cy="91441"/>
          </a:xfrm>
          <a:prstGeom prst="line">
            <a:avLst/>
          </a:prstGeom>
          <a:ln w="19050">
            <a:solidFill>
              <a:srgbClr val="000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20040" y="4069080"/>
            <a:ext cx="10012680" cy="0"/>
          </a:xfrm>
          <a:prstGeom prst="line">
            <a:avLst/>
          </a:prstGeom>
          <a:ln w="19050">
            <a:solidFill>
              <a:srgbClr val="000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0040" y="4069080"/>
            <a:ext cx="0" cy="457199"/>
          </a:xfrm>
          <a:prstGeom prst="line">
            <a:avLst/>
          </a:prstGeom>
          <a:ln w="19050">
            <a:solidFill>
              <a:srgbClr val="000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0040" y="4526279"/>
            <a:ext cx="210312" cy="0"/>
          </a:xfrm>
          <a:prstGeom prst="line">
            <a:avLst/>
          </a:prstGeom>
          <a:ln w="19050">
            <a:solidFill>
              <a:srgbClr val="0000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420624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20624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01952" y="4526279"/>
            <a:ext cx="164591" cy="0"/>
          </a:xfrm>
          <a:prstGeom prst="line">
            <a:avLst/>
          </a:prstGeom>
          <a:ln w="22225">
            <a:solidFill>
              <a:srgbClr val="0000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084831" y="420624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57984" y="420624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Deduplicate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438144" y="4526279"/>
            <a:ext cx="164591" cy="0"/>
          </a:xfrm>
          <a:prstGeom prst="line">
            <a:avLst/>
          </a:prstGeom>
          <a:ln w="22225">
            <a:solidFill>
              <a:srgbClr val="0000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621024" y="420624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94176" y="420624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Resolve conflicts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74336" y="4526279"/>
            <a:ext cx="164592" cy="0"/>
          </a:xfrm>
          <a:prstGeom prst="line">
            <a:avLst/>
          </a:prstGeom>
          <a:ln w="22225">
            <a:solidFill>
              <a:srgbClr val="0000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157216" y="420624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0368" y="420624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 by seq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10527" y="4526279"/>
            <a:ext cx="164593" cy="0"/>
          </a:xfrm>
          <a:prstGeom prst="line">
            <a:avLst/>
          </a:prstGeom>
          <a:ln w="22225">
            <a:solidFill>
              <a:srgbClr val="0000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693407" y="420624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420624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Verify gaps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046719" y="4526279"/>
            <a:ext cx="164592" cy="0"/>
          </a:xfrm>
          <a:prstGeom prst="line">
            <a:avLst/>
          </a:prstGeom>
          <a:ln w="22225">
            <a:solidFill>
              <a:srgbClr val="0000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420624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000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420624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Resume point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956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8E3E"/>
                </a:solidFill>
                <a:latin typeface="Calibri"/>
              </a:rPr>
              <a:t>OUTPUTS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257800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5257800"/>
            <a:ext cx="2459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Recovered context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ordered, deduplicated dialog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37560" y="5257800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10712" y="5257800"/>
            <a:ext cx="2459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Decisions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verdict + rule + reason per event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79" y="5257800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9631" y="5257800"/>
            <a:ext cx="2459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context_hash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same log → same hash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15399" y="5257800"/>
            <a:ext cx="2606040" cy="73152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5875">
            <a:solidFill>
              <a:srgbClr val="C9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8551" y="5257800"/>
            <a:ext cx="24597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236E"/>
                </a:solidFill>
                <a:latin typeface="Calibri"/>
              </a:rPr>
              <a:t>Resume / block</a:t>
            </a:r>
          </a:p>
          <a:p>
            <a:pPr algn="ctr"/>
            <a:r>
              <a:rPr sz="1100" b="0" i="0">
                <a:solidFill>
                  <a:srgbClr val="555B6E"/>
                </a:solidFill>
                <a:latin typeface="Calibri"/>
              </a:rPr>
              <a:t>next seq + adapter, or the gap</a:t>
            </a:r>
          </a:p>
        </p:txBody>
      </p:sp>
      <p:sp>
        <p:nvSpPr>
          <p:cNvPr id="56" name="Caption"/>
          <p:cNvSpPr txBox="1"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DC"/>
                </a:solidFill>
                <a:latin typeface="Calibri"/>
              </a:rPr>
              <a:t>Figure: 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Data Flow Diagram (DFD)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Deployment Timeline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Deployment Timeline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548640" y="1261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Milestones and method: design the rules first, then prove each one with deterministic tests.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11 / 14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2788920"/>
            <a:ext cx="10424160" cy="0"/>
          </a:xfrm>
          <a:prstGeom prst="line">
            <a:avLst/>
          </a:prstGeom>
          <a:ln w="38100">
            <a:solidFill>
              <a:srgbClr val="C9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1560" y="2468879"/>
            <a:ext cx="640080" cy="64008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8E3E"/>
                </a:solidFill>
                <a:latin typeface="Calibri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42900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36E"/>
                </a:solidFill>
                <a:latin typeface="Calibri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94760"/>
            <a:ext cx="14264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Calibri"/>
              </a:rPr>
              <a:t>Dialog lifecycle, envelope and recovery rules agreed as one team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2468879"/>
            <a:ext cx="640080" cy="64008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9202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8E3E"/>
                </a:solidFill>
                <a:latin typeface="Calibri"/>
              </a:rP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3375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2888" y="342900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36E"/>
                </a:solidFill>
                <a:latin typeface="Calibri"/>
              </a:rPr>
              <a:t>Correlate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3794760"/>
            <a:ext cx="14264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Calibri"/>
              </a:rPr>
              <a:t>Envelope, idempotency key, 3 protocol adapters</a:t>
            </a:r>
          </a:p>
        </p:txBody>
      </p:sp>
      <p:sp>
        <p:nvSpPr>
          <p:cNvPr id="18" name="Oval 17"/>
          <p:cNvSpPr/>
          <p:nvPr/>
        </p:nvSpPr>
        <p:spPr>
          <a:xfrm>
            <a:off x="4800599" y="2468879"/>
            <a:ext cx="640080" cy="64008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19202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8E3E"/>
                </a:solidFill>
                <a:latin typeface="Calibri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3375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7" y="342900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36E"/>
                </a:solidFill>
                <a:latin typeface="Calibri"/>
              </a:rPr>
              <a:t>Persist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3794760"/>
            <a:ext cx="14264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Calibri"/>
              </a:rPr>
              <a:t>Gateway + append-only SQLite log (MVP, Oct 11)</a:t>
            </a:r>
          </a:p>
        </p:txBody>
      </p:sp>
      <p:sp>
        <p:nvSpPr>
          <p:cNvPr id="23" name="Oval 22"/>
          <p:cNvSpPr/>
          <p:nvPr/>
        </p:nvSpPr>
        <p:spPr>
          <a:xfrm>
            <a:off x="6675119" y="2468879"/>
            <a:ext cx="640080" cy="64008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19202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8E3E"/>
                </a:solidFill>
                <a:latin typeface="Calibri"/>
              </a:rPr>
              <a:t>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199" y="33375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7" y="342900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36E"/>
                </a:solidFill>
                <a:latin typeface="Calibri"/>
              </a:rPr>
              <a:t>Recover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3794760"/>
            <a:ext cx="14264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Calibri"/>
              </a:rPr>
              <a:t>replay(), fault simulator, 8 scenarios, 56 tests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2468879"/>
            <a:ext cx="640080" cy="64008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19202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8E3E"/>
                </a:solidFill>
                <a:latin typeface="Calibri"/>
              </a:rPr>
              <a:t>Done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3375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7" y="342900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36E"/>
                </a:solidFill>
                <a:latin typeface="Calibri"/>
              </a:rPr>
              <a:t>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7" y="3794760"/>
            <a:ext cx="14264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Calibri"/>
              </a:rPr>
              <a:t>Dashboard, JSON API, live on Vercel (Oct 14)</a:t>
            </a:r>
          </a:p>
        </p:txBody>
      </p:sp>
      <p:sp>
        <p:nvSpPr>
          <p:cNvPr id="33" name="Oval 32"/>
          <p:cNvSpPr/>
          <p:nvPr/>
        </p:nvSpPr>
        <p:spPr>
          <a:xfrm>
            <a:off x="10424160" y="2468879"/>
            <a:ext cx="640080" cy="640080"/>
          </a:xfrm>
          <a:prstGeom prst="ellipse">
            <a:avLst/>
          </a:prstGeom>
          <a:solidFill>
            <a:srgbClr val="E87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19202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7F13"/>
                </a:solidFill>
                <a:latin typeface="Calibri"/>
              </a:rPr>
              <a:t>In progress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33375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0967" y="342900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36E"/>
                </a:solidFill>
                <a:latin typeface="Calibri"/>
              </a:rPr>
              <a:t>Submit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0967" y="3794760"/>
            <a:ext cx="14264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Calibri"/>
              </a:rPr>
              <a:t>Orientation video, slides, AIORI portal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193792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DC"/>
                </a:solidFill>
                <a:latin typeface="Calibri"/>
              </a:rPr>
              <a:t>Next  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Real connectors (WebSocket, LLM HTTP, JSON-RPC / MCP) · outbox redelivery to heal gaps · snapshots for long logs · seeded random fault campaigns · signed envelopes · PostgreSQL · distributed sequencer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Bibliography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Bibliography I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12 / 14</a:t>
            </a:r>
          </a:p>
        </p:txBody>
      </p:sp>
      <p:sp>
        <p:nvSpPr>
          <p:cNvPr id="6" name="References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[1]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R. Fielding, M. Nottingham, J. Reschke.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HTTP Semantics.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RFC 9110, IETF, June 2022.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[2]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J. Jena, S. Dalal.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The Idempotency-Key HTTP Header Field.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Internet-Draft draft-ietf-httpapi-idempotency-key-header, IETF (work in progress).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[3]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L. Lamport.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Time, Clocks, and the Ordering of Events in a Distributed System.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Communications of the ACM 21.7 (1978), pp. 558–565.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[4]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W3C.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Trace Context.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W3C Recommendation, 2021.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[5]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JSON-RPC Working Group.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JSON-RPC 2.0 Specification.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2010 (rev. 2013).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DC"/>
                </a:solidFill>
                <a:latin typeface="Calibri"/>
              </a:rPr>
              <a:t>AIORI 3 Bibliography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DC"/>
                </a:solidFill>
                <a:latin typeface="Calibri"/>
              </a:rPr>
              <a:t>Bibliography II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13 / 14</a:t>
            </a:r>
          </a:p>
        </p:txBody>
      </p:sp>
      <p:sp>
        <p:nvSpPr>
          <p:cNvPr id="6" name="References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[6]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I. Fette, A. Melnikov.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The WebSocket Protocol.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RFC 6455, IETF, December 2011.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[7]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M. Fowler.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Event Sourcing.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martinfowler.com, 2005.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[8]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H. Garcia-Molina, K. Salem.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Sagas.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Proc. ACM SIGMOD (1987), pp. 249–259.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[9]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Apache Kafka.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KIP-98: Exactly Once Delivery and Transactional Messaging.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2017.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DC"/>
                </a:solidFill>
                <a:latin typeface="Calibri"/>
              </a:rPr>
              <a:t>[10]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Model Context Protocol. </a:t>
            </a:r>
            <a:r>
              <a:rPr sz="1700" b="0" i="1">
                <a:solidFill>
                  <a:srgbClr val="111111"/>
                </a:solidFill>
                <a:latin typeface="Calibri"/>
              </a:rPr>
              <a:t>Specification (JSON-RPC 2.0 based).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modelcontextprotocol.io.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ori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914400"/>
            <a:ext cx="1143000" cy="111556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23317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000DC"/>
                </a:solidFill>
                <a:latin typeface="Calibri"/>
              </a:rPr>
              <a:t>Thank You for Your Attention!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55B6E"/>
                </a:solidFill>
                <a:latin typeface="Calibri"/>
              </a:rPr>
              <a:t>Questions welcome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69080"/>
            <a:ext cx="25054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Code</a:t>
            </a:r>
          </a:p>
          <a:p>
            <a:pPr algn="ctr"/>
            <a:r>
              <a:rPr sz="1200" b="0" i="0">
                <a:solidFill>
                  <a:srgbClr val="111111"/>
                </a:solidFill>
                <a:latin typeface="Calibri"/>
                <a:hlinkClick r:id="rId3"/>
              </a:rPr>
              <a:t>github.com/aiori-hackathon/A3-PS021-TC516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02336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4069080"/>
            <a:ext cx="25054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Live demo</a:t>
            </a:r>
          </a:p>
          <a:p>
            <a:pPr algn="ctr"/>
            <a:r>
              <a:rPr sz="1200" b="0" i="0">
                <a:solidFill>
                  <a:srgbClr val="111111"/>
                </a:solidFill>
                <a:latin typeface="Calibri"/>
                <a:hlinkClick r:id="rId4"/>
              </a:rPr>
              <a:t>threadline-brown.vercel.app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02336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4069080"/>
            <a:ext cx="25054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Orientation video</a:t>
            </a:r>
          </a:p>
          <a:p>
            <a:pPr algn="ctr"/>
            <a:r>
              <a:rPr sz="1200" b="0" i="0">
                <a:solidFill>
                  <a:srgbClr val="111111"/>
                </a:solidFill>
                <a:latin typeface="Calibri"/>
                <a:hlinkClick r:id="rId5"/>
              </a:rPr>
              <a:t>youtu.be/4IXSzTUrEOA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0263" y="402336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5" y="4069080"/>
            <a:ext cx="25054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236E"/>
                </a:solidFill>
                <a:latin typeface="Calibri"/>
              </a:rPr>
              <a:t>Run locally</a:t>
            </a:r>
          </a:p>
          <a:p>
            <a:pPr algn="ctr"/>
            <a:r>
              <a:rPr sz="1200" b="0" i="0">
                <a:solidFill>
                  <a:srgbClr val="111111"/>
                </a:solidFill>
                <a:latin typeface="Calibri"/>
              </a:rPr>
              <a:t>python server.py  →  localhost:8080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DC"/>
                </a:solidFill>
                <a:latin typeface="Calibri"/>
              </a:rPr>
              <a:t>Y. Mangate · N. Niphade  ·  </a:t>
            </a:r>
            <a:r>
              <a:rPr sz="1100" b="1" i="0">
                <a:solidFill>
                  <a:srgbClr val="0000DC"/>
                </a:solidFill>
                <a:latin typeface="Calibri"/>
              </a:rPr>
              <a:t>A3-PS021-TC516</a:t>
            </a:r>
            <a:r>
              <a:rPr sz="1100" b="0" i="0">
                <a:solidFill>
                  <a:srgbClr val="0000DC"/>
                </a:solidFill>
                <a:latin typeface="Calibri"/>
              </a:rPr>
              <a:t>  ·  October 14, 2026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000DC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Threadline: AIORI-3 PS-021 (A3-PS021-TC516)</dc:title>
  <dc:subject/>
  <dc:creator>Yugraj Mangate, Neha Niphade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